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144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leadership; introduce the AMS Agentic AI solution and today's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things we'll cover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manual-triage problem, our agentic solution, the measurable benefits, and how it scales by adding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flowchart top to bottom: ServiceNow triggers the Orchestrator, which hands off to the Router, then the confidence gate branches to notification, approval, or continued remediation through Guardrails, ending in either auto-execution or human approval, all logged to the audit trail and fed back into the shared knowledge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incident from ServiceNow ticket through classification, routing, remediation, guardrails, and audit, including the feedback loop back into the vector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one-time bootstrap: historical incidents and the SOP library are embedded once into the shared vector store before the agents go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phased rollout from pilot to full production coverage, tying back to the scalability point from earlier.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leadership, invite questions and discussion of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0B0C">
                  <a:alpha val="100000"/>
                </a:srgbClr>
              </a:gs>
              <a:gs pos="55000">
                <a:srgbClr val="1B0630">
                  <a:alpha val="100000"/>
                </a:srgbClr>
              </a:gs>
              <a:gs pos="100000">
                <a:srgbClr val="3A006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2382500" y="0"/>
            <a:ext cx="5905500" cy="10287000"/>
          </a:xfrm>
          <a:prstGeom prst="rect">
            <a:avLst/>
          </a:prstGeom>
          <a:gradFill rotWithShape="1">
            <a:gsLst>
              <a:gs pos="0">
                <a:srgbClr val="A100FF">
                  <a:alpha val="35000"/>
                </a:srgbClr>
              </a:gs>
              <a:gs pos="100000">
                <a:srgbClr val="A100FF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047750" y="3007519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AMS PRODUCTION SUPPORT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47750" y="3512344"/>
            <a:ext cx="13735050" cy="1976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824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for Production Support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047750" y="5717381"/>
            <a:ext cx="533400" cy="47625"/>
          </a:xfrm>
          <a:prstGeom prst="roundRect">
            <a:avLst>
              <a:gd name="adj" fmla="val 50000"/>
            </a:avLst>
          </a:prstGeom>
          <a:solidFill>
            <a:srgbClr val="A100FF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5993606"/>
            <a:ext cx="1079182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E7E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multi-agent system that classifies, routes, and remediates ServiceNow incidents automatically — with human approval where it matters.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047750" y="9353550"/>
            <a:ext cx="315421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9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Leadership Review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5572" y="9363075"/>
            <a:ext cx="135814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July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5725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5875"/>
            <a:ext cx="178117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Cover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3257550"/>
            <a:ext cx="16192500" cy="9525"/>
          </a:xfrm>
          <a:prstGeom prst="rect">
            <a:avLst/>
          </a:prstGeom>
          <a:solidFill>
            <a:srgbClr val="E7E2ED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2657475"/>
            <a:ext cx="742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95500" y="2671763"/>
            <a:ext cx="6705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Problem, Solution &amp; Scalability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572500" y="2686050"/>
            <a:ext cx="8074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manual triage doesn't scale, and how the agent model does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047750" y="4114800"/>
            <a:ext cx="16192500" cy="9525"/>
          </a:xfrm>
          <a:prstGeom prst="rect">
            <a:avLst/>
          </a:prstGeom>
          <a:solidFill>
            <a:srgbClr val="E7E2ED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3514725"/>
            <a:ext cx="742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95500" y="3529013"/>
            <a:ext cx="6705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572500" y="3543300"/>
            <a:ext cx="74881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Agents, governance, and shared platform layers, end to end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47750" y="4972050"/>
            <a:ext cx="16192500" cy="9525"/>
          </a:xfrm>
          <a:prstGeom prst="rect">
            <a:avLst/>
          </a:prstGeom>
          <a:solidFill>
            <a:srgbClr val="E7E2ED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4371975"/>
            <a:ext cx="742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95500" y="4386263"/>
            <a:ext cx="6705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572500" y="4400550"/>
            <a:ext cx="668611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single incident moves from ticket to resolution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047750" y="5829300"/>
            <a:ext cx="16192500" cy="9525"/>
          </a:xfrm>
          <a:prstGeom prst="rect">
            <a:avLst/>
          </a:prstGeom>
          <a:solidFill>
            <a:srgbClr val="E7E2ED"/>
          </a:solidFill>
          <a:ln/>
        </p:spPr>
      </p:sp>
      <p:sp>
        <p:nvSpPr>
          <p:cNvPr id="18" name="Text 16"/>
          <p:cNvSpPr/>
          <p:nvPr/>
        </p:nvSpPr>
        <p:spPr>
          <a:xfrm>
            <a:off x="1047750" y="5229225"/>
            <a:ext cx="742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095500" y="5243513"/>
            <a:ext cx="6705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Knowledge Ingestion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8572500" y="5257800"/>
            <a:ext cx="82839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historical incidents and SOPs into the shared vector store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47750" y="6086475"/>
            <a:ext cx="742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095500" y="6100763"/>
            <a:ext cx="6705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Roadmap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8572500" y="6115050"/>
            <a:ext cx="63347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path from pilot to full production coverage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47750" y="9744075"/>
            <a:ext cx="19072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AMS Agentic AI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7011501" y="9744075"/>
            <a:ext cx="3049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5725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&amp; SOLUTION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5875"/>
            <a:ext cx="178117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Manual Triage to Autonomous Remediation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333625"/>
            <a:ext cx="7981950" cy="5143500"/>
          </a:xfrm>
          <a:prstGeom prst="roundRect">
            <a:avLst>
              <a:gd name="adj" fmla="val 741"/>
            </a:avLst>
          </a:prstGeom>
          <a:solidFill>
            <a:srgbClr val="F6F4F8"/>
          </a:solidFill>
          <a:ln/>
        </p:spPr>
      </p:sp>
      <p:sp>
        <p:nvSpPr>
          <p:cNvPr id="6" name="Text 4"/>
          <p:cNvSpPr/>
          <p:nvPr/>
        </p:nvSpPr>
        <p:spPr>
          <a:xfrm>
            <a:off x="1466850" y="2752725"/>
            <a:ext cx="7858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66850" y="3248025"/>
            <a:ext cx="735806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ServiceNow incident and job failure is triaged and remediated by hand — slow, inconsistent, and dependent on individual tribal knowledge.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466850" y="4724400"/>
            <a:ext cx="95250" cy="95250"/>
          </a:xfrm>
          <a:prstGeom prst="ellipse">
            <a:avLst/>
          </a:prstGeom>
          <a:solidFill>
            <a:srgbClr val="6E6B78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4629150"/>
            <a:ext cx="710298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of engineer time spent on repetitive, well-understood failures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466850" y="5467350"/>
            <a:ext cx="95250" cy="95250"/>
          </a:xfrm>
          <a:prstGeom prst="ellipse">
            <a:avLst/>
          </a:prstGeom>
          <a:solidFill>
            <a:srgbClr val="6E6B78"/>
          </a:solidFill>
          <a:ln/>
        </p:spPr>
      </p:sp>
      <p:sp>
        <p:nvSpPr>
          <p:cNvPr id="11" name="Text 9"/>
          <p:cNvSpPr/>
          <p:nvPr/>
        </p:nvSpPr>
        <p:spPr>
          <a:xfrm>
            <a:off x="1714500" y="5372100"/>
            <a:ext cx="47594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quality varies by who's on call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466850" y="5915025"/>
            <a:ext cx="95250" cy="95250"/>
          </a:xfrm>
          <a:prstGeom prst="ellipse">
            <a:avLst/>
          </a:prstGeom>
          <a:solidFill>
            <a:srgbClr val="6E6B78"/>
          </a:solidFill>
          <a:ln/>
        </p:spPr>
      </p:sp>
      <p:sp>
        <p:nvSpPr>
          <p:cNvPr id="13" name="Text 11"/>
          <p:cNvSpPr/>
          <p:nvPr/>
        </p:nvSpPr>
        <p:spPr>
          <a:xfrm>
            <a:off x="1714500" y="5819775"/>
            <a:ext cx="69541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knowledge lives in documents, not in the workflow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258300" y="2333625"/>
            <a:ext cx="7981950" cy="5143500"/>
          </a:xfrm>
          <a:prstGeom prst="roundRect">
            <a:avLst>
              <a:gd name="adj" fmla="val 741"/>
            </a:avLst>
          </a:prstGeom>
          <a:solidFill>
            <a:srgbClr val="0B0B0C"/>
          </a:solidFill>
          <a:ln/>
        </p:spPr>
      </p:sp>
      <p:sp>
        <p:nvSpPr>
          <p:cNvPr id="15" name="Text 13"/>
          <p:cNvSpPr/>
          <p:nvPr/>
        </p:nvSpPr>
        <p:spPr>
          <a:xfrm>
            <a:off x="9677400" y="2752725"/>
            <a:ext cx="7858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677400" y="3248025"/>
            <a:ext cx="7358063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806"/>
              </a:lnSpc>
              <a:buNone/>
            </a:pPr>
            <a:r>
              <a:rPr lang="en-US" sz="1950" dirty="0">
                <a:solidFill>
                  <a:srgbClr val="E7E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cooperating AI agents classify, route, and remediate incidents automatically, grounded in historical tickets and the SOP library — with guardrails and human approval built in.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677400" y="4724400"/>
            <a:ext cx="95250" cy="95250"/>
          </a:xfrm>
          <a:prstGeom prst="ellipse">
            <a:avLst/>
          </a:prstGeom>
          <a:solidFill>
            <a:srgbClr val="A100FF"/>
          </a:solidFill>
          <a:ln/>
        </p:spPr>
      </p:sp>
      <p:sp>
        <p:nvSpPr>
          <p:cNvPr id="18" name="Text 16"/>
          <p:cNvSpPr/>
          <p:nvPr/>
        </p:nvSpPr>
        <p:spPr>
          <a:xfrm>
            <a:off x="9925050" y="4629150"/>
            <a:ext cx="710298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Orchestrator, Router, and Remediation agents share one workflow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677400" y="5467350"/>
            <a:ext cx="95250" cy="95250"/>
          </a:xfrm>
          <a:prstGeom prst="ellipse">
            <a:avLst/>
          </a:prstGeom>
          <a:solidFill>
            <a:srgbClr val="A100FF"/>
          </a:solidFill>
          <a:ln/>
        </p:spPr>
      </p:sp>
      <p:sp>
        <p:nvSpPr>
          <p:cNvPr id="20" name="Text 18"/>
          <p:cNvSpPr/>
          <p:nvPr/>
        </p:nvSpPr>
        <p:spPr>
          <a:xfrm>
            <a:off x="9925050" y="5372100"/>
            <a:ext cx="710298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recommendation is grounded — the agent says "insufficient information" rather than guess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677400" y="6210300"/>
            <a:ext cx="95250" cy="95250"/>
          </a:xfrm>
          <a:prstGeom prst="ellipse">
            <a:avLst/>
          </a:prstGeom>
          <a:solidFill>
            <a:srgbClr val="A100FF"/>
          </a:solidFill>
          <a:ln/>
        </p:spPr>
      </p:sp>
      <p:sp>
        <p:nvSpPr>
          <p:cNvPr id="22" name="Text 20"/>
          <p:cNvSpPr/>
          <p:nvPr/>
        </p:nvSpPr>
        <p:spPr>
          <a:xfrm>
            <a:off x="9925050" y="6115050"/>
            <a:ext cx="710298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gate auto-execution; low-confidence cases route to one-click email approval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047750" y="7686675"/>
            <a:ext cx="9312176" cy="1781175"/>
          </a:xfrm>
          <a:prstGeom prst="roundRect">
            <a:avLst>
              <a:gd name="adj" fmla="val 2139"/>
            </a:avLst>
          </a:prstGeom>
          <a:solidFill>
            <a:srgbClr val="F6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1428750" y="7934325"/>
            <a:ext cx="940519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28750" y="8391525"/>
            <a:ext cx="273244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resolution on repeat failure patterns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4424511" y="8391525"/>
            <a:ext cx="267450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Consistent, auditable decisions every time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364016" y="8391525"/>
            <a:ext cx="269335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freed for novel, high-value work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588526" y="7686675"/>
            <a:ext cx="6651575" cy="1781175"/>
          </a:xfrm>
          <a:prstGeom prst="roundRect">
            <a:avLst>
              <a:gd name="adj" fmla="val 2139"/>
            </a:avLst>
          </a:prstGeom>
          <a:gradFill rotWithShape="1">
            <a:gsLst>
              <a:gs pos="0">
                <a:srgbClr val="A100FF">
                  <a:alpha val="100000"/>
                </a:srgbClr>
              </a:gs>
              <a:gs pos="100000">
                <a:srgbClr val="5C0099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9" name="Text 27"/>
          <p:cNvSpPr/>
          <p:nvPr/>
        </p:nvSpPr>
        <p:spPr>
          <a:xfrm>
            <a:off x="10969526" y="7934325"/>
            <a:ext cx="64785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0969526" y="8334375"/>
            <a:ext cx="6066263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E7E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orchestrator flow — add new specialist agents (e.g. network, database, security) without redesigning the pipeline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047750" y="9744075"/>
            <a:ext cx="19072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AMS Agentic AI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7011501" y="9744075"/>
            <a:ext cx="3049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53340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904875"/>
            <a:ext cx="1781175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 &amp; Flow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1047750" y="1704975"/>
            <a:ext cx="1504950" cy="1382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b="1" kern="0" spc="54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&amp; INTAKE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24150" y="1704975"/>
            <a:ext cx="6210300" cy="1344811"/>
          </a:xfrm>
          <a:prstGeom prst="roundRect">
            <a:avLst>
              <a:gd name="adj" fmla="val 2833"/>
            </a:avLst>
          </a:prstGeom>
          <a:solidFill>
            <a:srgbClr val="0B0B0C"/>
          </a:solidFill>
          <a:ln/>
        </p:spPr>
      </p:sp>
      <p:sp>
        <p:nvSpPr>
          <p:cNvPr id="7" name="Text 5"/>
          <p:cNvSpPr/>
          <p:nvPr/>
        </p:nvSpPr>
        <p:spPr>
          <a:xfrm>
            <a:off x="2971800" y="2057400"/>
            <a:ext cx="62865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45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971800" y="2411611"/>
            <a:ext cx="6286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E7E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&amp; service requests, pulled via REST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05900" y="1704975"/>
            <a:ext cx="571500" cy="1382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dirty="0">
                <a:solidFill>
                  <a:srgbClr val="B9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848850" y="1704975"/>
            <a:ext cx="7391400" cy="1344811"/>
          </a:xfrm>
          <a:prstGeom prst="roundRect">
            <a:avLst>
              <a:gd name="adj" fmla="val 2833"/>
            </a:avLst>
          </a:prstGeom>
          <a:solidFill>
            <a:srgbClr val="FFFFFF"/>
          </a:solidFill>
          <a:ln w="19050">
            <a:solidFill>
              <a:srgbClr val="A10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15550" y="1914525"/>
            <a:ext cx="7543800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45"/>
              </a:lnSpc>
              <a:buNone/>
            </a:pPr>
            <a:r>
              <a:rPr lang="en-US" sz="1950" b="1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AMS Orchestrator Agent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115550" y="2268736"/>
            <a:ext cx="70637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incident vs. request, applies the confidence gate, and delegates to the right specialist agent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63038" y="3106936"/>
            <a:ext cx="238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179"/>
              </a:lnSpc>
              <a:buNone/>
            </a:pPr>
            <a:r>
              <a:rPr lang="en-US" sz="25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47750" y="3487936"/>
            <a:ext cx="1504950" cy="1712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b="1" kern="0" spc="54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 LAYER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724150" y="3487936"/>
            <a:ext cx="7153275" cy="1674019"/>
          </a:xfrm>
          <a:prstGeom prst="roundRect">
            <a:avLst>
              <a:gd name="adj" fmla="val 2276"/>
            </a:avLst>
          </a:prstGeom>
          <a:solidFill>
            <a:srgbClr val="F6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2724150" y="3487936"/>
            <a:ext cx="7153275" cy="47625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17" name="Text 15"/>
          <p:cNvSpPr/>
          <p:nvPr/>
        </p:nvSpPr>
        <p:spPr>
          <a:xfrm>
            <a:off x="2971800" y="3726061"/>
            <a:ext cx="732377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45"/>
              </a:lnSpc>
              <a:buNone/>
            </a:pPr>
            <a:r>
              <a:rPr lang="en-US" sz="19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Router Agent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971800" y="4080272"/>
            <a:ext cx="6857714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Embeds the ticket, searches Qdrant for similar incidents, and proposes an L2 group with a confidence score — or says "insufficient information"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86975" y="3487936"/>
            <a:ext cx="7153275" cy="1674019"/>
          </a:xfrm>
          <a:prstGeom prst="roundRect">
            <a:avLst>
              <a:gd name="adj" fmla="val 2276"/>
            </a:avLst>
          </a:prstGeom>
          <a:solidFill>
            <a:srgbClr val="F6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86975" y="3487936"/>
            <a:ext cx="7153275" cy="47625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21" name="Text 19"/>
          <p:cNvSpPr/>
          <p:nvPr/>
        </p:nvSpPr>
        <p:spPr>
          <a:xfrm>
            <a:off x="10334625" y="3726061"/>
            <a:ext cx="732377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45"/>
              </a:lnSpc>
              <a:buNone/>
            </a:pPr>
            <a:r>
              <a:rPr lang="en-US" sz="19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Remediation Agent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334625" y="4080272"/>
            <a:ext cx="6857714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the incident to a SOP, pulls CloudWatch/S3 evidence, and recommends a concrete AWS action with extracted parameters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63038" y="5219105"/>
            <a:ext cx="238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179"/>
              </a:lnSpc>
              <a:buNone/>
            </a:pPr>
            <a:r>
              <a:rPr lang="en-US" sz="255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047750" y="5600105"/>
            <a:ext cx="150495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b="1" kern="0" spc="54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 &amp; ACTION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724150" y="5600105"/>
            <a:ext cx="3165425" cy="1333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B9B2C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952750" y="5815310"/>
            <a:ext cx="2979048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952750" y="6146750"/>
            <a:ext cx="278947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Auto-assign, approval email, or notify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003875" y="5600105"/>
            <a:ext cx="4572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B9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6575375" y="5600105"/>
            <a:ext cx="3165574" cy="1333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B9B2C4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803975" y="5815310"/>
            <a:ext cx="297921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03975" y="6146750"/>
            <a:ext cx="27896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· risk · confidence · params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855250" y="5600105"/>
            <a:ext cx="4572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B9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0426750" y="5600105"/>
            <a:ext cx="3533626" cy="1333500"/>
          </a:xfrm>
          <a:prstGeom prst="roundRect">
            <a:avLst>
              <a:gd name="adj" fmla="val 2857"/>
            </a:avLst>
          </a:prstGeom>
          <a:gradFill rotWithShape="1">
            <a:gsLst>
              <a:gs pos="0">
                <a:srgbClr val="A100FF">
                  <a:alpha val="100000"/>
                </a:srgbClr>
              </a:gs>
              <a:gs pos="100000">
                <a:srgbClr val="5C0099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4" name="Text 32"/>
          <p:cNvSpPr/>
          <p:nvPr/>
        </p:nvSpPr>
        <p:spPr>
          <a:xfrm>
            <a:off x="10636300" y="5815310"/>
            <a:ext cx="3425979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Executor → AWS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636300" y="6146750"/>
            <a:ext cx="320796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E7E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boto3 calls: ECS, RDS, EC2, Lambda, Glue, S3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4112776" y="5600105"/>
            <a:ext cx="3127474" cy="1333500"/>
          </a:xfrm>
          <a:prstGeom prst="roundRect">
            <a:avLst>
              <a:gd name="adj" fmla="val 2857"/>
            </a:avLst>
          </a:prstGeom>
          <a:solidFill>
            <a:srgbClr val="F6F4F8"/>
          </a:solidFill>
          <a:ln/>
        </p:spPr>
      </p:sp>
      <p:sp>
        <p:nvSpPr>
          <p:cNvPr id="37" name="Shape 35"/>
          <p:cNvSpPr/>
          <p:nvPr/>
        </p:nvSpPr>
        <p:spPr>
          <a:xfrm>
            <a:off x="14112776" y="5600105"/>
            <a:ext cx="3127474" cy="47625"/>
          </a:xfrm>
          <a:prstGeom prst="rect">
            <a:avLst/>
          </a:prstGeom>
          <a:solidFill>
            <a:srgbClr val="A100FF"/>
          </a:solidFill>
          <a:ln/>
        </p:spPr>
      </p:sp>
      <p:sp>
        <p:nvSpPr>
          <p:cNvPr id="38" name="Text 36"/>
          <p:cNvSpPr/>
          <p:nvPr/>
        </p:nvSpPr>
        <p:spPr>
          <a:xfrm>
            <a:off x="14322326" y="5839123"/>
            <a:ext cx="297921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4322326" y="6170563"/>
            <a:ext cx="27896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approve/reject email on any failed check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063038" y="6990755"/>
            <a:ext cx="2381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179"/>
              </a:lnSpc>
              <a:buNone/>
            </a:pPr>
            <a:r>
              <a:rPr lang="en-US" sz="2550" dirty="0">
                <a:solidFill>
                  <a:srgbClr val="B9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550" dirty="0"/>
          </a:p>
        </p:txBody>
      </p:sp>
      <p:sp>
        <p:nvSpPr>
          <p:cNvPr id="41" name="Text 39"/>
          <p:cNvSpPr/>
          <p:nvPr/>
        </p:nvSpPr>
        <p:spPr>
          <a:xfrm>
            <a:off x="1047750" y="7371755"/>
            <a:ext cx="1504950" cy="1626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1111"/>
              </a:lnSpc>
              <a:buNone/>
            </a:pPr>
            <a:r>
              <a:rPr lang="en-US" sz="1800" b="1" kern="0" spc="54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PLATFORM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2724150" y="7371755"/>
            <a:ext cx="14516100" cy="1588740"/>
          </a:xfrm>
          <a:prstGeom prst="roundRect">
            <a:avLst>
              <a:gd name="adj" fmla="val 2398"/>
            </a:avLst>
          </a:prstGeom>
          <a:solidFill>
            <a:srgbClr val="F1E8FF"/>
          </a:solidFill>
          <a:ln/>
        </p:spPr>
      </p:sp>
      <p:sp>
        <p:nvSpPr>
          <p:cNvPr id="43" name="Shape 41"/>
          <p:cNvSpPr/>
          <p:nvPr/>
        </p:nvSpPr>
        <p:spPr>
          <a:xfrm>
            <a:off x="2952750" y="7562255"/>
            <a:ext cx="3386138" cy="1207740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143250" y="7714655"/>
            <a:ext cx="330565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Vector DB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3143250" y="8046095"/>
            <a:ext cx="309529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· SOPs · outcomes (BGE-M3)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510338" y="7562255"/>
            <a:ext cx="3386138" cy="1207740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700838" y="7857530"/>
            <a:ext cx="330565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Library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700838" y="8188970"/>
            <a:ext cx="33056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 per AWS service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0067925" y="7562255"/>
            <a:ext cx="3386138" cy="1207740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10258425" y="7714655"/>
            <a:ext cx="330565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0258425" y="8046095"/>
            <a:ext cx="309529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(PostgreSQL)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3625513" y="7562255"/>
            <a:ext cx="3386138" cy="1207740"/>
          </a:xfrm>
          <a:prstGeom prst="roundRect">
            <a:avLst>
              <a:gd name="adj" fmla="val 3155"/>
            </a:avLst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13816013" y="7714655"/>
            <a:ext cx="330565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857"/>
              </a:lnSpc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/ SMTP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3816013" y="8046095"/>
            <a:ext cx="309529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143"/>
              </a:lnSpc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&amp; notification delivery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047750" y="9744075"/>
            <a:ext cx="19072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AMS Agentic AI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7011501" y="9744075"/>
            <a:ext cx="3049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5725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FLOW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5875"/>
            <a:ext cx="178117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Flow, One Ticket at a Time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1047750" y="2352675"/>
            <a:ext cx="1913930" cy="1809750"/>
          </a:xfrm>
          <a:prstGeom prst="roundRect">
            <a:avLst>
              <a:gd name="adj" fmla="val 2105"/>
            </a:avLst>
          </a:prstGeom>
          <a:solidFill>
            <a:srgbClr val="0B0B0C"/>
          </a:solidFill>
          <a:ln/>
        </p:spPr>
      </p:sp>
      <p:sp>
        <p:nvSpPr>
          <p:cNvPr id="6" name="Text 4"/>
          <p:cNvSpPr/>
          <p:nvPr/>
        </p:nvSpPr>
        <p:spPr>
          <a:xfrm>
            <a:off x="1140649" y="2795588"/>
            <a:ext cx="17281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1100" y="3128963"/>
            <a:ext cx="164723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Created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09650" y="4295775"/>
            <a:ext cx="199013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incident in ServiceNow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42196" y="3333750"/>
            <a:ext cx="381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9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27661" y="2352675"/>
            <a:ext cx="1913781" cy="1809750"/>
          </a:xfrm>
          <a:prstGeom prst="roundRect">
            <a:avLst>
              <a:gd name="adj" fmla="val 2105"/>
            </a:avLst>
          </a:prstGeom>
          <a:solidFill>
            <a:srgbClr val="A100FF"/>
          </a:solidFill>
          <a:ln/>
        </p:spPr>
      </p:sp>
      <p:sp>
        <p:nvSpPr>
          <p:cNvPr id="11" name="Text 9"/>
          <p:cNvSpPr/>
          <p:nvPr/>
        </p:nvSpPr>
        <p:spPr>
          <a:xfrm>
            <a:off x="3520567" y="2943225"/>
            <a:ext cx="17279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567" y="3276600"/>
            <a:ext cx="172796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389561" y="4295775"/>
            <a:ext cx="198998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Orchestrator: incident vs. service request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21957" y="3333750"/>
            <a:ext cx="381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9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807422" y="2352675"/>
            <a:ext cx="1913781" cy="1809750"/>
          </a:xfrm>
          <a:prstGeom prst="roundRect">
            <a:avLst>
              <a:gd name="adj" fmla="val 2105"/>
            </a:avLst>
          </a:prstGeom>
          <a:solidFill>
            <a:srgbClr val="0B0B0C"/>
          </a:solidFill>
          <a:ln/>
        </p:spPr>
      </p:sp>
      <p:sp>
        <p:nvSpPr>
          <p:cNvPr id="16" name="Text 14"/>
          <p:cNvSpPr/>
          <p:nvPr/>
        </p:nvSpPr>
        <p:spPr>
          <a:xfrm>
            <a:off x="5900328" y="2943225"/>
            <a:ext cx="17279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00328" y="3276600"/>
            <a:ext cx="172796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769322" y="4295775"/>
            <a:ext cx="1989981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embeds ticket, searches Qdrant, proposes L2 group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801719" y="3333750"/>
            <a:ext cx="381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9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187184" y="2352675"/>
            <a:ext cx="1913781" cy="1809750"/>
          </a:xfrm>
          <a:prstGeom prst="roundRect">
            <a:avLst>
              <a:gd name="adj" fmla="val 2105"/>
            </a:avLst>
          </a:prstGeom>
          <a:solidFill>
            <a:srgbClr val="A100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80090" y="2795588"/>
            <a:ext cx="17279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0534" y="3128963"/>
            <a:ext cx="164708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Gate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149084" y="4295775"/>
            <a:ext cx="198998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Auto-assign, approval email, or plain notification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181481" y="3333750"/>
            <a:ext cx="381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9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0566946" y="2352675"/>
            <a:ext cx="1913781" cy="1809750"/>
          </a:xfrm>
          <a:prstGeom prst="roundRect">
            <a:avLst>
              <a:gd name="adj" fmla="val 2105"/>
            </a:avLst>
          </a:prstGeom>
          <a:solidFill>
            <a:srgbClr val="0B0B0C"/>
          </a:solidFill>
          <a:ln/>
        </p:spPr>
      </p:sp>
      <p:sp>
        <p:nvSpPr>
          <p:cNvPr id="26" name="Text 24"/>
          <p:cNvSpPr/>
          <p:nvPr/>
        </p:nvSpPr>
        <p:spPr>
          <a:xfrm>
            <a:off x="10659852" y="2943225"/>
            <a:ext cx="17279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659852" y="3276600"/>
            <a:ext cx="172796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Remediate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528846" y="4295775"/>
            <a:ext cx="1989981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Remediation agent matches SOP + evidence, recommends action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561243" y="3333750"/>
            <a:ext cx="381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9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2946707" y="2352675"/>
            <a:ext cx="1913781" cy="1809750"/>
          </a:xfrm>
          <a:prstGeom prst="roundRect">
            <a:avLst>
              <a:gd name="adj" fmla="val 2105"/>
            </a:avLst>
          </a:prstGeom>
          <a:solidFill>
            <a:srgbClr val="A100FF"/>
          </a:solidFill>
          <a:ln/>
        </p:spPr>
      </p:sp>
      <p:sp>
        <p:nvSpPr>
          <p:cNvPr id="31" name="Text 29"/>
          <p:cNvSpPr/>
          <p:nvPr/>
        </p:nvSpPr>
        <p:spPr>
          <a:xfrm>
            <a:off x="13039613" y="2795588"/>
            <a:ext cx="17279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080057" y="3128963"/>
            <a:ext cx="164708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Check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2908607" y="4295775"/>
            <a:ext cx="1989981" cy="11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checks pass → auto-execute; any fail → human approval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4941004" y="3333750"/>
            <a:ext cx="3810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B9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5326469" y="2352675"/>
            <a:ext cx="1913781" cy="1809750"/>
          </a:xfrm>
          <a:prstGeom prst="roundRect">
            <a:avLst>
              <a:gd name="adj" fmla="val 2105"/>
            </a:avLst>
          </a:prstGeom>
          <a:solidFill>
            <a:srgbClr val="0B0B0C"/>
          </a:solidFill>
          <a:ln/>
        </p:spPr>
      </p:sp>
      <p:sp>
        <p:nvSpPr>
          <p:cNvPr id="36" name="Text 34"/>
          <p:cNvSpPr/>
          <p:nvPr/>
        </p:nvSpPr>
        <p:spPr>
          <a:xfrm>
            <a:off x="15419375" y="2795588"/>
            <a:ext cx="172796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5459819" y="3128963"/>
            <a:ext cx="164708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&amp; Audit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5288369" y="4295775"/>
            <a:ext cx="198998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boto3 action runs; PostgreSQL logs every decision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47750" y="6124575"/>
            <a:ext cx="16192500" cy="1057275"/>
          </a:xfrm>
          <a:prstGeom prst="roundRect">
            <a:avLst>
              <a:gd name="adj" fmla="val 3604"/>
            </a:avLst>
          </a:prstGeom>
          <a:solidFill>
            <a:srgbClr val="F6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1390650" y="6462713"/>
            <a:ext cx="3144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A1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819424" y="6353175"/>
            <a:ext cx="1553026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loop: </a:t>
            </a:r>
            <a:r>
              <a:rPr lang="en-US" sz="195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routing and remediation outcomes are written back into the Qdrant vector store, so future tickets are matched against an ever-growing set of resolved cases.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047750" y="9744075"/>
            <a:ext cx="19072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AMS Agentic AI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7011501" y="9744075"/>
            <a:ext cx="3049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5725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ONE-TIME SETUP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5875"/>
            <a:ext cx="178117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Ingesting Incidents &amp; SOPs — Once, Before Go-Live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524125"/>
            <a:ext cx="4813250" cy="4438650"/>
          </a:xfrm>
          <a:prstGeom prst="roundRect">
            <a:avLst>
              <a:gd name="adj" fmla="val 858"/>
            </a:avLst>
          </a:prstGeom>
          <a:solidFill>
            <a:srgbClr val="F6F4F8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2867025"/>
            <a:ext cx="454019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90650" y="3381375"/>
            <a:ext cx="4127450" cy="154305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E7E2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9725" y="3562350"/>
            <a:ext cx="40582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Incidents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609725" y="3895725"/>
            <a:ext cx="379997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/ closed ServiceNow tickets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9725" y="4486275"/>
            <a:ext cx="40582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ingest_incidents.py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90650" y="5076825"/>
            <a:ext cx="4127450" cy="154305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9525">
            <a:solidFill>
              <a:srgbClr val="E7E2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9725" y="5257800"/>
            <a:ext cx="40582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Library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609725" y="5591175"/>
            <a:ext cx="379997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&amp; narrative runbooks per AWS service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9725" y="6181725"/>
            <a:ext cx="40582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E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ingest_sops.py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89600" y="4495800"/>
            <a:ext cx="495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B9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6737300" y="3124200"/>
            <a:ext cx="4813250" cy="3238500"/>
          </a:xfrm>
          <a:prstGeom prst="roundRect">
            <a:avLst>
              <a:gd name="adj" fmla="val 1176"/>
            </a:avLst>
          </a:prstGeom>
          <a:solidFill>
            <a:srgbClr val="0B0B0C"/>
          </a:solidFill>
          <a:ln/>
        </p:spPr>
      </p:sp>
      <p:sp>
        <p:nvSpPr>
          <p:cNvPr id="17" name="Shape 15"/>
          <p:cNvSpPr/>
          <p:nvPr/>
        </p:nvSpPr>
        <p:spPr>
          <a:xfrm>
            <a:off x="8839051" y="3829050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A100FF"/>
          </a:solidFill>
          <a:ln/>
        </p:spPr>
      </p:sp>
      <p:sp>
        <p:nvSpPr>
          <p:cNvPr id="18" name="Text 16"/>
          <p:cNvSpPr/>
          <p:nvPr/>
        </p:nvSpPr>
        <p:spPr>
          <a:xfrm>
            <a:off x="8800951" y="38290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77048" y="4591050"/>
            <a:ext cx="253375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Model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7018289" y="5067300"/>
            <a:ext cx="4251274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7E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BGE-M3 converts every document into a vector representation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1779151" y="4495800"/>
            <a:ext cx="495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B9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300" dirty="0"/>
          </a:p>
        </p:txBody>
      </p:sp>
      <p:sp>
        <p:nvSpPr>
          <p:cNvPr id="22" name="Shape 20"/>
          <p:cNvSpPr/>
          <p:nvPr/>
        </p:nvSpPr>
        <p:spPr>
          <a:xfrm>
            <a:off x="12426851" y="3124200"/>
            <a:ext cx="4813399" cy="3238500"/>
          </a:xfrm>
          <a:prstGeom prst="roundRect">
            <a:avLst>
              <a:gd name="adj" fmla="val 1176"/>
            </a:avLst>
          </a:prstGeom>
          <a:gradFill rotWithShape="1">
            <a:gsLst>
              <a:gs pos="0">
                <a:srgbClr val="A100FF">
                  <a:alpha val="100000"/>
                </a:srgbClr>
              </a:gs>
              <a:gs pos="100000">
                <a:srgbClr val="5C0099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3" name="Shape 21"/>
          <p:cNvSpPr/>
          <p:nvPr/>
        </p:nvSpPr>
        <p:spPr>
          <a:xfrm>
            <a:off x="14528750" y="3829050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4490650" y="38290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VDB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601797" y="4591050"/>
            <a:ext cx="24633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Vector DB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2707837" y="5067300"/>
            <a:ext cx="425142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E7E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collection, tagged by source: incident, sop, job_failure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047750" y="7381875"/>
            <a:ext cx="7981950" cy="1095375"/>
          </a:xfrm>
          <a:prstGeom prst="roundRect">
            <a:avLst>
              <a:gd name="adj" fmla="val 3478"/>
            </a:avLst>
          </a:prstGeom>
          <a:solidFill>
            <a:srgbClr val="F6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1352550" y="7629525"/>
            <a:ext cx="761180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once </a:t>
            </a:r>
            <a:r>
              <a:rPr lang="en-US" sz="1950" dirty="0">
                <a:solidFill>
                  <a:srgbClr val="6E6B78"/>
                </a:solidFill>
                <a:highlight>
                  <a:srgbClr val="F6F4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before the agents go live — not on every startup, so embedding load never slows down normal operation.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258300" y="7381875"/>
            <a:ext cx="7981950" cy="1095375"/>
          </a:xfrm>
          <a:prstGeom prst="roundRect">
            <a:avLst>
              <a:gd name="adj" fmla="val 3478"/>
            </a:avLst>
          </a:prstGeom>
          <a:solidFill>
            <a:srgbClr val="F6F4F8"/>
          </a:solidFill>
          <a:ln/>
        </p:spPr>
      </p:sp>
      <p:sp>
        <p:nvSpPr>
          <p:cNvPr id="30" name="Text 28"/>
          <p:cNvSpPr/>
          <p:nvPr/>
        </p:nvSpPr>
        <p:spPr>
          <a:xfrm>
            <a:off x="9563100" y="7629525"/>
            <a:ext cx="7611809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on change </a:t>
            </a:r>
            <a:r>
              <a:rPr lang="en-US" sz="1950" dirty="0">
                <a:solidFill>
                  <a:srgbClr val="6E6B78"/>
                </a:solidFill>
                <a:highlight>
                  <a:srgbClr val="F6F4F8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— whenever the SOP library is updated, the ingestion script is re-run to keep guidance current.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047750" y="9744075"/>
            <a:ext cx="19072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AMS Agentic AI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7011501" y="9744075"/>
            <a:ext cx="3049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857250"/>
            <a:ext cx="178117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47750" y="1285875"/>
            <a:ext cx="178117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Phased Path to Full Coverage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047750" y="2486025"/>
            <a:ext cx="3848100" cy="4953000"/>
          </a:xfrm>
          <a:prstGeom prst="roundRect">
            <a:avLst>
              <a:gd name="adj" fmla="val 990"/>
            </a:avLst>
          </a:prstGeom>
          <a:solidFill>
            <a:srgbClr val="F6F4F8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2828925"/>
            <a:ext cx="36042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500" y="3238500"/>
            <a:ext cx="36042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333500" y="3714750"/>
            <a:ext cx="3374898" cy="1424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three core agents against one incident category, with full human approval on every action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162550" y="2486025"/>
            <a:ext cx="3848100" cy="4953000"/>
          </a:xfrm>
          <a:prstGeom prst="roundRect">
            <a:avLst>
              <a:gd name="adj" fmla="val 990"/>
            </a:avLst>
          </a:prstGeom>
          <a:solidFill>
            <a:srgbClr val="F6F4F8"/>
          </a:solidFill>
          <a:ln/>
        </p:spPr>
      </p:sp>
      <p:sp>
        <p:nvSpPr>
          <p:cNvPr id="10" name="Text 8"/>
          <p:cNvSpPr/>
          <p:nvPr/>
        </p:nvSpPr>
        <p:spPr>
          <a:xfrm>
            <a:off x="5448300" y="2828925"/>
            <a:ext cx="36042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48300" y="3238500"/>
            <a:ext cx="36042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Coverage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448300" y="3714750"/>
            <a:ext cx="3374898" cy="1771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Broaden the SOP library across more AWS services; raise auto-resolution thresholds as confidence builds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277350" y="2486025"/>
            <a:ext cx="3848100" cy="4953000"/>
          </a:xfrm>
          <a:prstGeom prst="roundRect">
            <a:avLst>
              <a:gd name="adj" fmla="val 990"/>
            </a:avLst>
          </a:prstGeom>
          <a:solidFill>
            <a:srgbClr val="F6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9563100" y="2828925"/>
            <a:ext cx="36042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A1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63100" y="3238500"/>
            <a:ext cx="36042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Specialist Agents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563100" y="3714750"/>
            <a:ext cx="3374898" cy="1424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6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 new agents (network, database, security) into the same orchestrator flow — no pipeline redesign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392150" y="2486025"/>
            <a:ext cx="3848100" cy="4953000"/>
          </a:xfrm>
          <a:prstGeom prst="roundRect">
            <a:avLst>
              <a:gd name="adj" fmla="val 990"/>
            </a:avLst>
          </a:prstGeom>
          <a:gradFill rotWithShape="1">
            <a:gsLst>
              <a:gs pos="0">
                <a:srgbClr val="A100FF">
                  <a:alpha val="100000"/>
                </a:srgbClr>
              </a:gs>
              <a:gs pos="100000">
                <a:srgbClr val="5C0099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8" name="Text 16"/>
          <p:cNvSpPr/>
          <p:nvPr/>
        </p:nvSpPr>
        <p:spPr>
          <a:xfrm>
            <a:off x="13677900" y="2828925"/>
            <a:ext cx="360426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677900" y="3238500"/>
            <a:ext cx="36042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Production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677900" y="3714750"/>
            <a:ext cx="3374898" cy="1424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419"/>
              </a:lnSpc>
              <a:buNone/>
            </a:pPr>
            <a:r>
              <a:rPr lang="en-US" sz="1950" dirty="0">
                <a:solidFill>
                  <a:srgbClr val="E7E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production support coverage with continuous feedback into the shared vector store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47750" y="9744075"/>
            <a:ext cx="19072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AMS Agentic AI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7011501" y="9744075"/>
            <a:ext cx="3049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895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0B0C">
                  <a:alpha val="100000"/>
                </a:srgbClr>
              </a:gs>
              <a:gs pos="60000">
                <a:srgbClr val="1B0630">
                  <a:alpha val="100000"/>
                </a:srgbClr>
              </a:gs>
              <a:gs pos="100000">
                <a:srgbClr val="3A0066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1047750" y="4024313"/>
            <a:ext cx="533400" cy="47625"/>
          </a:xfrm>
          <a:prstGeom prst="roundRect">
            <a:avLst>
              <a:gd name="adj" fmla="val 50000"/>
            </a:avLst>
          </a:prstGeom>
          <a:solidFill>
            <a:srgbClr val="A100FF"/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4300538"/>
            <a:ext cx="1781175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47750" y="5405438"/>
            <a:ext cx="1079182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E7E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happy to walk through any component, agent, or the underlying code in more depth.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047750" y="9744075"/>
            <a:ext cx="19072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75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AMS Agentic AI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011501" y="9744075"/>
            <a:ext cx="30494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B9B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1035</Words>
  <Application>Microsoft Office PowerPoint</Application>
  <PresentationFormat>Custom</PresentationFormat>
  <Paragraphs>172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niranjan lingutla</cp:lastModifiedBy>
  <cp:revision>2</cp:revision>
  <dcterms:created xsi:type="dcterms:W3CDTF">2026-07-21T05:54:58Z</dcterms:created>
  <dcterms:modified xsi:type="dcterms:W3CDTF">2026-07-21T05:58:10Z</dcterms:modified>
</cp:coreProperties>
</file>